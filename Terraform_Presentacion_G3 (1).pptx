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743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 con HashiCorp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A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</a:t>
            </a:r>
            <a:endParaRPr lang="en-US" sz="14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FA63E00-59A6-E508-F560-A5678C616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869" y="812647"/>
            <a:ext cx="1390262" cy="13902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y contexto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las herramientas de IaC?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Terraform?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origen de Terraform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cog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son las herramientas de IaC?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Gestionan la infraestructura con archivos de configuración, en lugar de clics en una interfaz gráfica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construir, cambiar y administrar infraestructura de forma segura, consistente y repetible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configuraciones se pueden versionar, reutilizar y compartir como código de software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cloud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Terraform?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Infraestructura como Código de HashiCorp, con lenguaje declarativo y legible por humanos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infraestructura en múltiples plataformas cloud desde un único lenguaje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estado rastrea los cambios en los recursos a lo largo de todos los despliegues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despliegue: Scope → Author → Initialize → Plan → Apply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history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y origen de Terraform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9143" y="2880360"/>
            <a:ext cx="109728" cy="109728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3154680"/>
            <a:ext cx="215867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 Hashimoto concibe la idea tras ver AWS CloudFormation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47974" y="210312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47974" y="2331720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637037" y="2880360"/>
            <a:ext cx="109728" cy="109728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12566" y="3154680"/>
            <a:ext cx="215867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lanza Terraform 0.1, compatible con AWS y DigitalOcean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55868" y="210312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55868" y="2331720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444930" y="2880360"/>
            <a:ext cx="109728" cy="109728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20460" y="3154680"/>
            <a:ext cx="215867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Registry y alianza con Microsoft para Azure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063761" y="210312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063761" y="2331720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0252824" y="2880360"/>
            <a:ext cx="109728" cy="109728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228353" y="3154680"/>
            <a:ext cx="215867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1.0: más de 100 millones de descargas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Licenciamiento y OpenTofu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warning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que resuelve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272888" cy="3931920"/>
          </a:xfrm>
          <a:prstGeom prst="roundRect">
            <a:avLst>
              <a:gd name="adj" fmla="val 1860"/>
            </a:avLst>
          </a:prstGeom>
          <a:solidFill>
            <a:srgbClr val="F1EFF7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66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(manual)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2424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manualmente a AWS, Azure o GCP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recursos haciendo clic en la interfaz web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los cambios aparte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todo por cada ambiente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 inconsistentes y sin trazabilidad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8728" y="1828800"/>
            <a:ext cx="5272888" cy="3931920"/>
          </a:xfrm>
          <a:prstGeom prst="roundRect">
            <a:avLst>
              <a:gd name="adj" fmla="val 186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53048" y="20574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Terraform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560320"/>
            <a:ext cx="472424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se define en archivos de texto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versiona en Git: historial, Pull Requests, rollback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lenguaje administra varios proveedores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igual en cada ambiente (dev, pruebas, prod)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gavel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Licenciamiento y OpenTofu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9143" y="2880360"/>
            <a:ext cx="109728" cy="109728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3154680"/>
            <a:ext cx="215867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open source original de Terraform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47974" y="210312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47974" y="2331720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 2023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637037" y="2880360"/>
            <a:ext cx="109728" cy="109728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12566" y="3154680"/>
            <a:ext cx="215867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cambia a Business Source License (BSL)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55868" y="210312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55868" y="2331720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OpenTF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444930" y="2880360"/>
            <a:ext cx="109728" cy="109728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20460" y="3154680"/>
            <a:ext cx="215867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comunidad publica un manifiesto pidiendo licencia abierta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063761" y="2103120"/>
            <a:ext cx="2487854" cy="3291840"/>
          </a:xfrm>
          <a:prstGeom prst="roundRect">
            <a:avLst>
              <a:gd name="adj" fmla="val 294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063761" y="2331720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OpenTofu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0252824" y="2880360"/>
            <a:ext cx="109728" cy="109728"/>
          </a:xfrm>
          <a:prstGeom prst="ellipse">
            <a:avLst/>
          </a:prstGeom>
          <a:solidFill>
            <a:srgbClr val="FF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228353" y="3154680"/>
            <a:ext cx="215867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100% open source, basado en la última versión MPL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plug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que permiten a Terraform comunicarse con APIs externas: AWS, Azure, GCP, GitHub, Kubernetes...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bloque de una configuración suele declarar el provider; el segundo, un recurso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provider expone sus propios recursos y fuentes de datos específicos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 y estructura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HCL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un proyecto Terraform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cod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ESTRUCTURA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lenguaje HCL: sintaxis y semántica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Configuration Language — entre JSON (verboso) y YAML (ambiguo). Basado en bloques { } y argumentos (nombre = valor).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1962851" cy="4069080"/>
          </a:xfrm>
          <a:prstGeom prst="roundRect">
            <a:avLst>
              <a:gd name="adj" fmla="val 3727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15605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2788920"/>
            <a:ext cx="1560515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"hola mundo"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77251" y="2240280"/>
            <a:ext cx="1962851" cy="4069080"/>
          </a:xfrm>
          <a:prstGeom prst="roundRect">
            <a:avLst>
              <a:gd name="adj" fmla="val 3727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78419" y="2423160"/>
            <a:ext cx="15605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078419" y="2788920"/>
            <a:ext cx="1560515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42, 3.14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114422" y="2240280"/>
            <a:ext cx="1962851" cy="4069080"/>
          </a:xfrm>
          <a:prstGeom prst="roundRect">
            <a:avLst>
              <a:gd name="adj" fmla="val 3727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15590" y="2423160"/>
            <a:ext cx="15605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315590" y="2788920"/>
            <a:ext cx="1560515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true, false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51593" y="2240280"/>
            <a:ext cx="1962851" cy="4069080"/>
          </a:xfrm>
          <a:prstGeom prst="roundRect">
            <a:avLst>
              <a:gd name="adj" fmla="val 3727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52761" y="2423160"/>
            <a:ext cx="15605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52761" y="2788920"/>
            <a:ext cx="1560515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["a", "b"]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588764" y="2240280"/>
            <a:ext cx="1962851" cy="4069080"/>
          </a:xfrm>
          <a:prstGeom prst="roundRect">
            <a:avLst>
              <a:gd name="adj" fmla="val 3727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789932" y="2423160"/>
            <a:ext cx="15605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789932" y="2788920"/>
            <a:ext cx="1560515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env = "prod" }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estructura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folder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ESTRUCTURA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un proyecto Terraform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de archivos — Terraform en realidad lee todos los .tf de la carpeta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3454298" cy="1897380"/>
          </a:xfrm>
          <a:prstGeom prst="roundRect">
            <a:avLst>
              <a:gd name="adj" fmla="val 3855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2788920"/>
            <a:ext cx="3051962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y recursos principales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8" y="2240280"/>
            <a:ext cx="3454298" cy="1897380"/>
          </a:xfrm>
          <a:prstGeom prst="roundRect">
            <a:avLst>
              <a:gd name="adj" fmla="val 3855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69866" y="242316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variables.tf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69866" y="2788920"/>
            <a:ext cx="3051962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de variables de entrada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97317" y="2240280"/>
            <a:ext cx="3454298" cy="1897380"/>
          </a:xfrm>
          <a:prstGeom prst="roundRect">
            <a:avLst>
              <a:gd name="adj" fmla="val 3855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98485" y="242316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98485" y="2788920"/>
            <a:ext cx="3051962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concretos de las variables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411980"/>
            <a:ext cx="3454298" cy="1897380"/>
          </a:xfrm>
          <a:prstGeom prst="roundRect">
            <a:avLst>
              <a:gd name="adj" fmla="val 3855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1248" y="459486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outputs.tf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41248" y="4960620"/>
            <a:ext cx="3051962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salida al finalizar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68698" y="4411980"/>
            <a:ext cx="3454298" cy="1897380"/>
          </a:xfrm>
          <a:prstGeom prst="roundRect">
            <a:avLst>
              <a:gd name="adj" fmla="val 3855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69866" y="459486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versions.tf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4569866" y="4960620"/>
            <a:ext cx="3051962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compatibles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97317" y="4411980"/>
            <a:ext cx="3454298" cy="1897380"/>
          </a:xfrm>
          <a:prstGeom prst="roundRect">
            <a:avLst>
              <a:gd name="adj" fmla="val 3855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98485" y="459486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 · .terraform/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298485" y="4960620"/>
            <a:ext cx="3051962" cy="1165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Reutilizables y plugins (auto-generado)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estructura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cube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ESTRUCTURA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básica: representa un objeto de infraestructura (servidor, red, etc.)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(definido por el provider) + nombre local (identificador interno)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implícitas (automáticas) o explícitas (depends_on)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for_each y lifecycle controlan cómo se crean o destruyen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035040" y="1828800"/>
            <a:ext cx="5516575" cy="3840480"/>
          </a:xfrm>
          <a:prstGeom prst="roundRect">
            <a:avLst>
              <a:gd name="adj" fmla="val 1905"/>
            </a:avLst>
          </a:prstGeom>
          <a:solidFill>
            <a:srgbClr val="1B1640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487649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7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"ami-0123456789"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7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estructura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Operación y trabajo en equipo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trabajo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Tfstate, el archivo de estado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en equipo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sync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TRABAJO EN EQUIPO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trabajo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./icons/search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41248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los providers y prepara el proyecto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36544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./icons/fil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712" y="20116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37712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3637712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qué cambiará, sin aplicar nada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233008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./icons/cog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176" y="20116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4176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34176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los cambios planificados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9029471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./icons/ban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0639" y="20116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30639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9230639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los recursos administrados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trabajo en equipo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databas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TRABAJO EN EQUIPO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Tfstate, el archivo de estado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el código con los recursos reales que existen en la nube (IDs, atributos actuales)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lo consulta antes de cada plan o apply para saber qué crear, cambiar o eliminar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equipo se recomienda un backend remoto compartido: Terraform Cloud, AWS S3, Azure Blob Storage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contener datos sensibles: cifrado, permisos limitados y fuera del repositorio (.gitignore)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trabajo en equipo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user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TRABAJO EN EQUIPO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Colaboración en equipo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remoto compartido (Terraform Cloud, S3 + DynamoDB) para trabajar sobre el mismo estado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locking evita que dos personas apliquen cambios al mismo tiempo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versionado en Git, revisado mediante Pull Requests antes de fusionar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estandarizan cómo el equipo define recursos similares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trabajo en equipo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shield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TRABAJO EN EQUIPO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./icons/lock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secretos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41248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o Vault / Secrets Manager, nunca en el código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36544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./icons/databas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712" y="20116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37712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del estado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3637712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remoto seguro + cifrado en reposo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233008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./icons/search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176" y="20116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4176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cambios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34176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antes de aplicar nada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9029471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./icons/usershield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0639" y="20116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30639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9230639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privilegio + auditoría vía Git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trabajo en equipo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5C4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práctica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9115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limitaciones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lightbulb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./icons/cloud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42316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cloud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41248" y="2788920"/>
            <a:ext cx="305196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GCP sin usar la interfaz web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68698" y="182880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./icons/exchang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866" y="20116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69866" y="242316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multinube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4569866" y="2788920"/>
            <a:ext cx="305196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Cloudflare + GitHub en una sola configuración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097317" y="182880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./icons/docker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485" y="20116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98485" y="242316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Kubernetes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8298485" y="2788920"/>
            <a:ext cx="305196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Clústeres, redes y almacenamiento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40080" y="420624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./icons/syn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43891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1248" y="480060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pruebas / producción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41248" y="5166360"/>
            <a:ext cx="305196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consistentes y reproducibles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368698" y="420624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5" descr="./icons/server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9866" y="438912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69866" y="480060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ante desastres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4569866" y="5166360"/>
            <a:ext cx="305196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Reconstrucción rápida desde el código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8097317" y="4206240"/>
            <a:ext cx="3454298" cy="2103120"/>
          </a:xfrm>
          <a:prstGeom prst="roundRect">
            <a:avLst>
              <a:gd name="adj" fmla="val 3478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6" descr="./icons/projectdiagram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8485" y="438912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298485" y="4800600"/>
            <a:ext cx="305196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450" dirty="0"/>
          </a:p>
        </p:txBody>
      </p:sp>
      <p:sp>
        <p:nvSpPr>
          <p:cNvPr id="29" name="Text 20"/>
          <p:cNvSpPr/>
          <p:nvPr/>
        </p:nvSpPr>
        <p:spPr>
          <a:xfrm>
            <a:off x="8298485" y="5166360"/>
            <a:ext cx="305196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GitLab CI, Jenkins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balanc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69723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75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74980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limitaciones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72888" cy="4709160"/>
          </a:xfrm>
          <a:prstGeom prst="roundRect">
            <a:avLst>
              <a:gd name="adj" fmla="val 1553"/>
            </a:avLst>
          </a:prstGeom>
          <a:solidFill>
            <a:srgbClr val="E9F7F1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./icons/thumbsup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856232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A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14400" y="2377440"/>
            <a:ext cx="472424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múltiples proveedores desde una sola herramienta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código: legible, versionable y repetible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 mediante módulos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Idempotencia: el mismo resultado en cada ejecución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previa de cambios con terraform plan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78728" y="1600200"/>
            <a:ext cx="5272888" cy="4709160"/>
          </a:xfrm>
          <a:prstGeom prst="roundRect">
            <a:avLst>
              <a:gd name="adj" fmla="val 1553"/>
            </a:avLst>
          </a:prstGeom>
          <a:solidFill>
            <a:srgbClr val="FBEAEA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./icons/thumbsdown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18288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10248" y="1856232"/>
            <a:ext cx="435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553048" y="2377440"/>
            <a:ext cx="472424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aprendizaje: providers, módulos, estado, dependencias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del archivo de estado es crítica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 si se modifica manualmente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complejo cuando el error viene del provider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licencia de 2023 generó incertidumbre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EFE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./icons/random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841248"/>
            <a:ext cx="9951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./icons/exchang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OpenTofu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41248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100% open source, sintaxis casi idéntica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36544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./icons/cod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712" y="201168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37712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3637712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infraestructura con Python, TypeScript o Go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233008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./icons/cloud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176" y="20116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4176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/ Bicep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34176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Nativos de AWS y Azure, un solo proveedor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9029471" y="1828800"/>
            <a:ext cx="2522144" cy="4480560"/>
          </a:xfrm>
          <a:prstGeom prst="roundRect">
            <a:avLst>
              <a:gd name="adj" fmla="val 2900"/>
            </a:avLst>
          </a:prstGeom>
          <a:solidFill>
            <a:srgbClr val="EFECFC"/>
          </a:solidFill>
          <a:ln/>
          <a:effectLst>
            <a:outerShdw blurRad="101600" dist="38100" dir="2700000" algn="bl" rotWithShape="0">
              <a:srgbClr val="1B16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./icons/cogs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0639" y="20116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30639" y="2423160"/>
            <a:ext cx="21198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9230639" y="2788920"/>
            <a:ext cx="211980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configuración, enfoque más procedural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926561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G3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1165</Words>
  <Application>Microsoft Office PowerPoint</Application>
  <PresentationFormat>Panorámica</PresentationFormat>
  <Paragraphs>240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- Infraestructura como Codigo</dc:title>
  <dc:subject>PptxGenJS Presentation</dc:subject>
  <dc:creator>Grupo 3</dc:creator>
  <cp:lastModifiedBy>Sebastián Méndez</cp:lastModifiedBy>
  <cp:revision>2</cp:revision>
  <dcterms:created xsi:type="dcterms:W3CDTF">2026-07-09T05:59:18Z</dcterms:created>
  <dcterms:modified xsi:type="dcterms:W3CDTF">2026-07-09T06:03:49Z</dcterms:modified>
</cp:coreProperties>
</file>